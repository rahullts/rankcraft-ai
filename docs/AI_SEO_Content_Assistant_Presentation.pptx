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ACADEMIC CAPSTONE PROJECT DEFENSE  • 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 SEO Content Assistant</a:t>
            </a:r>
          </a:p>
          <a:p>
            <a:pPr>
              <a:defRPr sz="2000">
                <a:solidFill>
                  <a:srgbClr val="C7D2FE"/>
                </a:solidFill>
              </a:defRPr>
            </a:pPr>
            <a:r>
              <a:t>Using Systematic Prompt Engineering &amp; Deterministic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346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end-to-end full-stack platform demonstrating how staged prompt pipelines, explicit constraint framing, and few-shot schemas transform unconstrained LLM drift into auditable, high-scoring SEO content packages.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2E8F0"/>
                </a:solidFill>
              </a:defRPr>
            </a:pPr>
            <a:r>
              <a:t>Candidate Name: </a:t>
            </a:r>
            <a:r>
              <a:rPr b="0">
                <a:solidFill>
                  <a:srgbClr val="FFFFFF"/>
                </a:solidFill>
              </a:rPr>
              <a:t>Rahul       </a:t>
            </a:r>
            <a:r>
              <a:rPr b="1">
                <a:solidFill>
                  <a:srgbClr val="E2E8F0"/>
                </a:solidFill>
              </a:rPr>
              <a:t>Register Number: </a:t>
            </a:r>
            <a:r>
              <a:rPr b="1">
                <a:solidFill>
                  <a:srgbClr val="60A5FA"/>
                </a:solidFill>
              </a:rPr>
              <a:t>URK23CS1135</a:t>
            </a:r>
          </a:p>
          <a:p>
            <a:pPr>
              <a:defRPr b="1" sz="1300">
                <a:solidFill>
                  <a:srgbClr val="E2E8F0"/>
                </a:solidFill>
              </a:defRPr>
            </a:pPr>
            <a:r>
              <a:t>Degree &amp; Branch: </a:t>
            </a:r>
            <a:r>
              <a:rPr b="0">
                <a:solidFill>
                  <a:srgbClr val="FFFFFF"/>
                </a:solidFill>
              </a:rPr>
              <a:t>B.Tech Computer Science &amp; Engineering</a:t>
            </a:r>
          </a:p>
          <a:p>
            <a:pPr>
              <a:defRPr b="1" sz="1300">
                <a:solidFill>
                  <a:srgbClr val="E2E8F0"/>
                </a:solidFill>
              </a:defRPr>
            </a:pPr>
            <a:r>
              <a:t>Institution: </a:t>
            </a:r>
            <a:r>
              <a:rPr b="0">
                <a:solidFill>
                  <a:srgbClr val="FFFFFF"/>
                </a:solidFill>
              </a:rPr>
              <a:t>Karunya Institute of Technology and Sciences (Deemed University)</a:t>
            </a:r>
          </a:p>
          <a:p>
            <a:pPr>
              <a:defRPr b="1" sz="1200">
                <a:solidFill>
                  <a:srgbClr val="818CF8"/>
                </a:solidFill>
              </a:defRPr>
            </a:pPr>
            <a:r>
              <a:t>Core Methodology: </a:t>
            </a:r>
            <a:r>
              <a:rPr b="1">
                <a:solidFill>
                  <a:srgbClr val="A5B4FC"/>
                </a:solidFill>
              </a:rPr>
              <a:t>Strategy (R1-R3)  →  Outline (R4)  →  Article Draft (R5-R6)  →  Assets &amp; FAQs (R7)  →  Rubric Audit (R1-R10)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01 /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Academic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Why single-shot naive prompts fail in production SEO workflows and how systematic prompt engineering solves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109728" cy="2103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Unconstrained Context Drift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Single-shot prompts omit explicit persona, audience intent, and niche boundaries. LLMs default to generic filler, high-perplexity corporate buzzwords, and unfocused summaries.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Objective: Implement Context &amp; Role Framing to lock domain specificity.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737360"/>
            <a:ext cx="109728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Structural &amp; Length Non-Compliance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LLMs frequently ignore length limits, omitting H2/H3 hierarchy, or truncating content unexpectedly. Meta descriptions exceed 160 characters, violating search engine SERP snippets.</a:t>
            </a:r>
          </a:p>
          <a:p>
            <a:pPr>
              <a:defRPr sz="1100" b="1">
                <a:solidFill>
                  <a:srgbClr val="F59E0B"/>
                </a:solidFill>
              </a:defRPr>
            </a:pPr>
            <a:r>
              <a:t>Objective: Enforce Strict Boundary Constraints &amp; few-shot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2336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Disconnected Deliverables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When an article, title tag, keywords, and FAQs are requested in one prompt, outputs drift apart semantically. Keywords generated do not appear in headers, and FAQs repeat basic text.</a:t>
            </a:r>
          </a:p>
          <a:p>
            <a:pPr>
              <a:defRPr sz="1100" b="1">
                <a:solidFill>
                  <a:srgbClr val="4F46E5"/>
                </a:solidFill>
              </a:defRPr>
            </a:pPr>
            <a:r>
              <a:t>Objective: Construct a 4-Stage Chained Prompt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23360"/>
            <a:ext cx="52578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02336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1605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Subjective Quality Assessment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Academic evaluations often rely on unquantifiable human feelings. Teams cannot measure if prompt modifications actually yielded higher compliance or better keyword distribution.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Objective: Design a Deterministic 100-Point Rule Engine (R1–R10).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02 / PROPOSED SOLUTION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Full-Stack Single-Service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 cohesive platform serving the React 18 client and Express TypeScript API from a unified cloud web service.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65960"/>
            <a:ext cx="301752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Presentation Layer (Client)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React 18 + Vite SPA with modern TypeScript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Collapsible Navigation Drawer with fluid viewports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Editorial Reading Canvas (820px readability max-width)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Real-time visual rubric badges &amp; prompt inspector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Zero client-side API key leakage (Security envelope)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301752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Application Layer (Server)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Node.js + Express REST API with TypeScript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Zod schema validation on every stage endpoint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Dynamic Rate Limiting (60 req/min window)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Centralized Error Handler with safe user messaging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Multi-provider adapter: Offline Mock + Live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73736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80" y="1965960"/>
            <a:ext cx="30175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Single-Service Cloud Host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5146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Render Blueprint deployment (`render.yaml`)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Express statically serves compiled `client/dist`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SPA Catch-all (`app.get('*')`) for refresh persistence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Relative `/api/*` endpoints (Zero CORS friction)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Deterministic Mock Mode runs with 0 cloud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03 /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4-Stage Chained Prompt Engineering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Decomposing monolithic content creation into sequential, typed transformations to eliminate context overload.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7860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78608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1: SEO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Endpoint: /api/strategy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30428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Role:</a:t>
            </a:r>
            <a:r>
              <a:rPr b="0" sz="1000">
                <a:solidFill>
                  <a:srgbClr val="64748B"/>
                </a:solidFill>
              </a:rPr>
              <a:t> Senior SEO Strategist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Inputs:</a:t>
            </a:r>
            <a:r>
              <a:rPr b="0" sz="1000">
                <a:solidFill>
                  <a:srgbClr val="64748B"/>
                </a:solidFill>
              </a:rPr>
              <a:t> Topic, Keyword, Market, Language, Audience, Intent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Outputs:</a:t>
            </a:r>
            <a:r>
              <a:rPr b="0" sz="1000">
                <a:solidFill>
                  <a:srgbClr val="64748B"/>
                </a:solidFill>
              </a:rPr>
              <a:t> 5 Title Options (30-60 chars), 155-160 char Meta Description, Primary / Secondary / Long-tail Keyword Sets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Techniques:</a:t>
            </a:r>
            <a:r>
              <a:rPr b="0" sz="1000">
                <a:solidFill>
                  <a:srgbClr val="64748B"/>
                </a:solidFill>
              </a:rPr>
              <a:t> Explicit Constraints + Few-shot JSON Schemas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57860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737360"/>
            <a:ext cx="2578608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2: CONTENT OUTLINE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Endpoint: /api/outline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230428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Role:</a:t>
            </a:r>
            <a:r>
              <a:rPr b="0" sz="1000">
                <a:solidFill>
                  <a:srgbClr val="64748B"/>
                </a:solidFill>
              </a:rPr>
              <a:t> Information Architect &amp; Content Planner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Inputs:</a:t>
            </a:r>
            <a:r>
              <a:rPr b="0" sz="1000">
                <a:solidFill>
                  <a:srgbClr val="64748B"/>
                </a:solidFill>
              </a:rPr>
              <a:t> User Context + Verified Strategy Payload from Stage 1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Outputs:</a:t>
            </a:r>
            <a:r>
              <a:rPr b="0" sz="1000">
                <a:solidFill>
                  <a:srgbClr val="64748B"/>
                </a:solidFill>
              </a:rPr>
              <a:t> 4+ H2 Sections, 2+ H3 Subsections per H2, Estimated word allocations, Target keyword placements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Techniques:</a:t>
            </a:r>
            <a:r>
              <a:rPr b="0" sz="1000">
                <a:solidFill>
                  <a:srgbClr val="64748B"/>
                </a:solidFill>
              </a:rPr>
              <a:t> Hierarchical Structuring + Context Injection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737360"/>
            <a:ext cx="257860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257860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3: ARTICLE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Endpoint: /api/article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51760"/>
            <a:ext cx="230428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Role:</a:t>
            </a:r>
            <a:r>
              <a:rPr b="0" sz="1000">
                <a:solidFill>
                  <a:srgbClr val="64748B"/>
                </a:solidFill>
              </a:rPr>
              <a:t> Technical Subject Matter Expert Writer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Inputs:</a:t>
            </a:r>
            <a:r>
              <a:rPr b="0" sz="1000">
                <a:solidFill>
                  <a:srgbClr val="64748B"/>
                </a:solidFill>
              </a:rPr>
              <a:t> Strategy (Stage 1) + Outline (Stage 2) + Word Count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Outputs:</a:t>
            </a:r>
            <a:r>
              <a:rPr b="0" sz="1000">
                <a:solidFill>
                  <a:srgbClr val="64748B"/>
                </a:solidFill>
              </a:rPr>
              <a:t> Complete Markdown draft, H1 title, primary keyword in introductory 100 words, strict section length bounds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Techniques:</a:t>
            </a:r>
            <a:r>
              <a:rPr b="0" sz="1000">
                <a:solidFill>
                  <a:srgbClr val="64748B"/>
                </a:solidFill>
              </a:rPr>
              <a:t> Boundary Constraints + Anti-Hallucination Framing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737360"/>
            <a:ext cx="2578608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23960" y="1737360"/>
            <a:ext cx="2578608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4: ASSETS &amp; FAQS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3317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Endpoint: /api/faqs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651760"/>
            <a:ext cx="230428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Role:</a:t>
            </a:r>
            <a:r>
              <a:rPr b="0" sz="1000">
                <a:solidFill>
                  <a:srgbClr val="64748B"/>
                </a:solidFill>
              </a:rPr>
              <a:t> Conversion &amp; Search Intent Specialist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Inputs:</a:t>
            </a:r>
            <a:r>
              <a:rPr b="0" sz="1000">
                <a:solidFill>
                  <a:srgbClr val="64748B"/>
                </a:solidFill>
              </a:rPr>
              <a:t> Full Draft (Stage 3) + Primary Keyword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Outputs:</a:t>
            </a:r>
            <a:r>
              <a:rPr b="0" sz="1000">
                <a:solidFill>
                  <a:srgbClr val="64748B"/>
                </a:solidFill>
              </a:rPr>
              <a:t> 3-5 high-value FAQ pairs matching conversational query intent for Google Featured Snippets</a:t>
            </a:r>
          </a:p>
          <a:p>
            <a:pPr>
              <a:spcAft>
                <a:spcPts val="600"/>
              </a:spcAft>
            </a:pPr>
            <a:r>
              <a:t>• </a:t>
            </a:r>
            <a:r>
              <a:rPr b="1" sz="1000">
                <a:solidFill>
                  <a:srgbClr val="0F172A"/>
                </a:solidFill>
              </a:rPr>
              <a:t>Techniques:</a:t>
            </a:r>
            <a:r>
              <a:rPr b="0" sz="1000">
                <a:solidFill>
                  <a:srgbClr val="64748B"/>
                </a:solidFill>
              </a:rPr>
              <a:t> Structured Q&amp;A Formatting + Semantic Alignment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04 / CORE SCIENTIFIC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6 Core Prompt Engineering Techniques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Every generation stage implements specific prompt techniques designed to eliminate common LLM failure modes.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1. Role &amp; Persona Prompting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Assigns specialized professional personas (Senior SEO Strategist, Technical Editor) to frame model behavioral expectations and vocabulary depth.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Fixes: Bland generic tone &amp; lack of domain authority.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47472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2. Context &amp; Audience Framing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Injects explicit user search intent (informational, transactional), target audience proficiency, geographic market, and language parameters.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Fixes: Irrelevant content drift and audience mismatch.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737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73736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874519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3. Explicit Boundary Constraints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Enforces rigid quantitative limits: exactly 155-160 characters for meta descriptions, exactly 5 title options (30-60 chars), 4+ H2 headings.</a:t>
            </a:r>
          </a:p>
          <a:p>
            <a:pPr>
              <a:defRPr sz="1000" b="1">
                <a:solidFill>
                  <a:srgbClr val="7C3AED"/>
                </a:solidFill>
              </a:defRPr>
            </a:pPr>
            <a:r>
              <a:t>Fixes: SERP truncation &amp; unformatted text walls.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23360"/>
            <a:ext cx="34747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4. Few-Shot Exemplars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Provides concrete input-output examples directly in the system prompt to anchor the expected schema shape, tone, and JSON structure.</a:t>
            </a:r>
          </a:p>
          <a:p>
            <a:pPr>
              <a:defRPr sz="1000" b="1">
                <a:solidFill>
                  <a:srgbClr val="7C3AED"/>
                </a:solidFill>
              </a:defRPr>
            </a:pPr>
            <a:r>
              <a:t>Fixes: Inconsistent output format &amp; parsing failures.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4023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02336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5. Structured JSON Output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Forces strict JSON responses with regex sanitization and markdown fence stripping to guarantee reliable programmatic consumption.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Fixes: Malformed responses breaking the frontend UI.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80" y="402336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4023360"/>
            <a:ext cx="34747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160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6. Staged Pipeline Chaining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Divides the monolithic generation into 4 sequential sub-tasks: Strategy -&gt; Outline -&gt; Article -&gt; FAQs, passing validated artifacts forward.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Fixes: Attention dilution across long-form synthesis.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05 / 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Prompt Engineering Lab: Controlled A/B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Scientific comparison measuring a basic single-shot prompt against the 4-stage pipeline under identical inputs.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4F46E5"/>
                </a:solidFill>
              </a:defRPr>
            </a:pPr>
            <a:r>
              <a:t>CONTROLLED SCIENTIFIC PROTOCOL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Identical Input Parameters: Topic: 'Growing herbs at home' | Keyword: 'indoor herb garden' | Target: 800 words | Market: India (English)</a:t>
            </a:r>
            <a:br/>
            <a:r>
              <a:t>• Controlled Environment: Temperature = 0.5 (Live LLM) / Deterministic Mock Provider | Identical 100-point rubric evaluator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52578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MODE A: BASIC SINGLE-SHOT PROMPT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Prompt: 'Write an SEO article about growing herbs at home.'</a:t>
            </a:r>
          </a:p>
          <a:p>
            <a:pPr>
              <a:defRPr sz="1800" b="1">
                <a:solidFill>
                  <a:srgbClr val="EF4444"/>
                </a:solidFill>
              </a:defRPr>
            </a:pPr>
            <a:r>
              <a:t>Rubric Score: 20 / 100 pts (FAIL)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❌ Heading Structure (R4): 5/10 — Shallow hierarchy; missing H3 sub-structure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❌ Keyword Placement (R5): 0/15 — Failed to place keyword in H1 and lead 100 words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❌ Word-Count Accuracy (R6): 0/10 — Delivered only 180 words (Target: 800 words)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❌ SEO Asset Package (R1-R3, R7): 0/40 — Produced 0 titles, 0 meta tags, 0 FAQs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743200"/>
            <a:ext cx="52578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MODE B: 4-STAGE ENGINEERED PIPELINE</a:t>
            </a:r>
          </a:p>
          <a:p>
            <a:pPr>
              <a:defRPr sz="1000" i="1">
                <a:solidFill>
                  <a:srgbClr val="64748B"/>
                </a:solidFill>
              </a:defRPr>
            </a:pPr>
            <a:r>
              <a:t>Chained Pipeline: Strategy (R1-R3) → Outline (R4) → Article (R5-R6) → FAQs (R7)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Rubric Score: 83 / 100 pts (+63 pts GAIN)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✅ Heading Structure (R4): 10/10 — Flawless 2-level outline with 4 H2s and 8 H3s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✅ Keyword Placement (R5): 15/15 — Verified keyword in H1 title and opening paragraph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✅ Word-Count Accuracy (R6): 5/10 — 785 words generated within ±5% tolerance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✅ SEO Asset Package (R1-R3, R7): 40/40 — Full suite of 5 titles, 158-char meta, 5 FAQs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06 / SCIENTIFIC EVALUATION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Deterministic 100-Point Rubric Engine (R1–R10)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Objective algorithmic scoring measuring structural adherence, keyword distribution, and constraint compliance without subjective human bias.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474720" cy="4114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Metadata Scope (40 Points)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R1: Title Tag Quality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Checks that at least 5 distinct title options exist, each between 30–60 characters containing primary/secondary keywords.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R2: Meta Description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Enforces strict length check: 155–160 characters, presence of target keyword, active call-to-action.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R3: Keyword Sets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Validates generation of distinct primary, secondary (3+), and long-tail (3+) search queries without fabricated metrics.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R7: FAQ Set Completeness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Verifies 3–5 high-value FAQ pairs matching user search intent for Google Featured Snippets.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347472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Content Architecture (35 Points)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402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R4: Heading Structure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Checks for exactly 1 H1 title, minimum 4 H2 main sections, and hierarchical H3 subsections.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R5: Primary Keyword Placement (15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Deterministic regex scan for primary keyword in H1, first 100 words, and at least one H2 heading.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R6: Word-Count Accuracy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Compares actual body word count against target word count within ±10% margin of error.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737360"/>
            <a:ext cx="347472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737360"/>
            <a:ext cx="347472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Quality &amp; Safety (25 Points)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2402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R8: Readability Heuristic (5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Analyzes paragraph length (&lt;=5 sentences) and conversational tone for optimal web engagement.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R9: Anti-Hallucination Scan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Scans draft for fabricated search metrics, fake statistics, or unverified scientific claims.</a:t>
            </a:r>
          </a:p>
          <a:p>
            <a:pPr>
              <a:spcBef>
                <a:spcPts val="400"/>
              </a:spcBef>
              <a:defRPr sz="1050" b="1">
                <a:solidFill>
                  <a:srgbClr val="0F172A"/>
                </a:solidFill>
              </a:defRPr>
            </a:pPr>
            <a:r>
              <a:t>R10: Search Intent Match (10 pts)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</a:defRPr>
            </a:pPr>
            <a:r>
              <a:t>Evaluates alignment between user intent (informational/how-to) and content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07 / VERIFICATION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Testing, Quality Assurance &amp; Cloud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100% automated test coverage, multi-viewport responsive UI audit, and seamless cloud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78608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3042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49 / 49 Tests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100% Passing Suite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37 Server + 12 Client Vitest suites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578608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74519"/>
            <a:ext cx="23042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F46E5"/>
                </a:solidFill>
              </a:defRPr>
            </a:pPr>
            <a:r>
              <a:t>0 px Overflow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Responsive UI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Verified across 1440, 1366, 1024, 375 viewports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578608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23042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C3AED"/>
                </a:solidFill>
              </a:defRPr>
            </a:pPr>
            <a:r>
              <a:t>Single-Service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Render Cloud Host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Express serves built React SPA +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737360"/>
            <a:ext cx="2578608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874519"/>
            <a:ext cx="2304288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59E0B"/>
                </a:solidFill>
              </a:defRPr>
            </a:pPr>
            <a:r>
              <a:t>100% Offline Viva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Deterministic Mock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Runs completely free without paid API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57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892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VERIFIED TEST SUITE BREAKDOWN (49 TESTS)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Prompt Template Assembly (4 tests): Validates system/user prompt formatting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API Route Validation (5 tests): Zod schema guards against invalid inputs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Language &amp; Quality Verification (28 tests): Ensures 100% English consistency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Client Text &amp; Metric Heuristics (8 tests): Word count, char count, readability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Deterministic Evaluator Engine (4 tests): R1-R10 scoring rules &amp; point tallies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566160"/>
            <a:ext cx="525780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48920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C3AED"/>
                </a:solidFill>
              </a:defRPr>
            </a:pPr>
            <a:r>
              <a:t>PRODUCTION CLOUD DEPLOYMENT (RENDER BLUEPRINT)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Render Blueprint: Configured via `render.yaml` for 1-click cloud provisioning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Single Public URL: Express server serves production `client/dist` and `/api/*`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SPA Fallback: `app.get('*')` prevents 404s when refreshing client routes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Relative Path API: Frontend communicates over `/api/*` with zero CORS friction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</a:defRPr>
            </a:pPr>
            <a:r>
              <a:t>✔ GitHub Integration: Clean repository tracking branch on `Rahullts/rankcraft-ai`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18CF8"/>
                </a:solidFill>
              </a:defRPr>
            </a:pPr>
            <a:r>
              <a:t>08 / CONCLUSION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Summary, Academic Impact &amp;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KEY ACADEMIC CONTRIBUTIONS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Empirical Proof: Staged prompt chaining yields +63 points improvement over basic prompts.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Deterministic Measurement: Eliminated subjective human bias via a 100-point rubric engine (R1-R10).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Production-Grade Architecture: Full-stack single-service deployment with strict Zod validation.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Zero-Cost Academic Defense: Complete deterministic offline mock fixtures ensure 100% reliable faculty viva demonstration without paid API dependencies.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FUTURE WORK &amp; PRESENTATION DEFENSE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Live Search Engine SERP API integration for real-time volume &amp; difficulty scoring.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Multi-lingual prompt chains supporting regional vernacular translation.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Persistent project workspaces using PostgreSQL and Firebase authentication.</a:t>
            </a:r>
          </a:p>
          <a:p>
            <a:pPr>
              <a:spcAft>
                <a:spcPts val="600"/>
              </a:spcAft>
              <a:defRPr sz="1050">
                <a:solidFill>
                  <a:srgbClr val="E2E8F0"/>
                </a:solidFill>
              </a:defRPr>
            </a:pPr>
            <a:r>
              <a:t>✦ Automated continuous evaluation benchmarking across Claude 3.5, GPT-4o, and Gemini 1.5 Pro.</a:t>
            </a:r>
          </a:p>
          <a:p>
            <a:pPr>
              <a:defRPr sz="1200" b="1">
                <a:solidFill>
                  <a:srgbClr val="FBBF24"/>
                </a:solidFill>
              </a:defRPr>
            </a:pPr>
            <a:r>
              <a:t>Thank You! Ready for Faculty Questions &amp; Demonstration.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Student: Rahul (URK23CS1135) | GitHub: github.com/Rahullts/rankcraft-ai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